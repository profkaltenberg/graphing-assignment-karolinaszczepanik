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nva Sans" panose="020B0503030501040103" pitchFamily="3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 varScale="1">
        <p:scale>
          <a:sx n="80" d="100"/>
          <a:sy n="80" d="100"/>
        </p:scale>
        <p:origin x="472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5433" y="1219254"/>
            <a:ext cx="7582656" cy="7848492"/>
          </a:xfrm>
          <a:custGeom>
            <a:avLst/>
            <a:gdLst/>
            <a:ahLst/>
            <a:cxnLst/>
            <a:rect l="l" t="t" r="r" b="b"/>
            <a:pathLst>
              <a:path w="7582656" h="7848492">
                <a:moveTo>
                  <a:pt x="0" y="0"/>
                </a:moveTo>
                <a:lnTo>
                  <a:pt x="7582656" y="0"/>
                </a:lnTo>
                <a:lnTo>
                  <a:pt x="7582656" y="7848492"/>
                </a:lnTo>
                <a:lnTo>
                  <a:pt x="0" y="7848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924800" y="4000500"/>
            <a:ext cx="10249049" cy="349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70"/>
              </a:lnSpc>
            </a:pPr>
            <a:r>
              <a:rPr lang="en-US" sz="7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IMDb Movies Analysis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Karolina Szczepanik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ECO 590</a:t>
            </a:r>
          </a:p>
          <a:p>
            <a:pPr algn="ctr">
              <a:lnSpc>
                <a:spcPts val="8643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77195" y="187137"/>
            <a:ext cx="11733609" cy="1035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3"/>
              </a:lnSpc>
              <a:spcBef>
                <a:spcPct val="0"/>
              </a:spcBef>
            </a:pPr>
            <a:r>
              <a:rPr lang="en-US" sz="60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Motivation / Research Question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06081" y="1537218"/>
            <a:ext cx="16270353" cy="7985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3"/>
              </a:lnSpc>
            </a:pPr>
            <a:r>
              <a:rPr lang="en-US" sz="3223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Motivation</a:t>
            </a:r>
          </a:p>
          <a:p>
            <a:pPr algn="l">
              <a:lnSpc>
                <a:spcPts val="4513"/>
              </a:lnSpc>
            </a:pPr>
            <a:endParaRPr lang="en-US" sz="3223" u="sng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96031" lvl="1" indent="-348016" algn="l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IMDb ratings influence how audiences perceive movies</a:t>
            </a:r>
          </a:p>
          <a:p>
            <a:pPr marL="696031" lvl="1" indent="-348016" algn="l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 wanted to explore whether movie characteristics relate to higher ratings</a:t>
            </a:r>
          </a:p>
          <a:p>
            <a:pPr marL="696031" lvl="1" indent="-348016" algn="l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OMDb API data to analyze patterns across 100 films</a:t>
            </a:r>
          </a:p>
          <a:p>
            <a:pPr algn="l">
              <a:lnSpc>
                <a:spcPts val="4513"/>
              </a:lnSpc>
            </a:pPr>
            <a:endParaRPr lang="en-US" sz="3223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513"/>
              </a:lnSpc>
            </a:pPr>
            <a:r>
              <a:rPr lang="en-US" sz="3223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Research Question</a:t>
            </a:r>
          </a:p>
          <a:p>
            <a:pPr algn="l">
              <a:lnSpc>
                <a:spcPts val="4513"/>
              </a:lnSpc>
            </a:pPr>
            <a:endParaRPr lang="en-US" sz="3223" u="sng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96031" lvl="1" indent="-348016" algn="just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movie characteristics are associated with higher IMDb ratings?</a:t>
            </a:r>
          </a:p>
          <a:p>
            <a:pPr algn="just">
              <a:lnSpc>
                <a:spcPts val="4513"/>
              </a:lnSpc>
            </a:pPr>
            <a:endParaRPr lang="en-US" sz="3223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513"/>
              </a:lnSpc>
            </a:pPr>
            <a:r>
              <a:rPr lang="en-US" sz="32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project will examine how film characteristics such as awards recognition, runtime, genre complexity, and release year are associated with variation in IMDb ratings.</a:t>
            </a:r>
          </a:p>
          <a:p>
            <a:pPr algn="just">
              <a:lnSpc>
                <a:spcPts val="4513"/>
              </a:lnSpc>
              <a:spcBef>
                <a:spcPct val="0"/>
              </a:spcBef>
            </a:pPr>
            <a:endParaRPr lang="en-US" sz="3223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3168636"/>
            <a:ext cx="14066283" cy="5976137"/>
          </a:xfrm>
          <a:custGeom>
            <a:avLst/>
            <a:gdLst/>
            <a:ahLst/>
            <a:cxnLst/>
            <a:rect l="l" t="t" r="r" b="b"/>
            <a:pathLst>
              <a:path w="14066283" h="5976137">
                <a:moveTo>
                  <a:pt x="0" y="0"/>
                </a:moveTo>
                <a:lnTo>
                  <a:pt x="14066282" y="0"/>
                </a:lnTo>
                <a:lnTo>
                  <a:pt x="14066282" y="5976138"/>
                </a:lnTo>
                <a:lnTo>
                  <a:pt x="0" y="5976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67" t="-35532" r="-10181" b="-53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755955" y="6156705"/>
            <a:ext cx="6503345" cy="3101595"/>
          </a:xfrm>
          <a:custGeom>
            <a:avLst/>
            <a:gdLst/>
            <a:ahLst/>
            <a:cxnLst/>
            <a:rect l="l" t="t" r="r" b="b"/>
            <a:pathLst>
              <a:path w="6503345" h="3101595">
                <a:moveTo>
                  <a:pt x="0" y="0"/>
                </a:moveTo>
                <a:lnTo>
                  <a:pt x="6503345" y="0"/>
                </a:lnTo>
                <a:lnTo>
                  <a:pt x="6503345" y="3101595"/>
                </a:lnTo>
                <a:lnTo>
                  <a:pt x="0" y="3101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3381" t="-165622" r="-174344" b="-3309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124200" y="632568"/>
            <a:ext cx="13113618" cy="1019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33"/>
              </a:lnSpc>
              <a:spcBef>
                <a:spcPct val="0"/>
              </a:spcBef>
            </a:pPr>
            <a:r>
              <a:rPr lang="en-US" sz="609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Collection / API Process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38800" y="2302307"/>
            <a:ext cx="7550945" cy="186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0"/>
              </a:lnSpc>
            </a:pPr>
            <a:r>
              <a:rPr lang="en-US" sz="2621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Collecting Data from the </a:t>
            </a:r>
            <a:r>
              <a:rPr lang="en-US" sz="2621" u="sng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OMDb</a:t>
            </a:r>
            <a:r>
              <a:rPr lang="en-US" sz="2621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API</a:t>
            </a:r>
          </a:p>
          <a:p>
            <a:pPr marL="108801" indent="-283001" algn="ctr">
              <a:lnSpc>
                <a:spcPts val="3670"/>
              </a:lnSpc>
              <a:buFont typeface="Arial"/>
              <a:buChar char="•"/>
            </a:pPr>
            <a:r>
              <a:rPr lang="en-US" sz="262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the </a:t>
            </a:r>
            <a:r>
              <a:rPr lang="en-US" sz="2621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OMDb</a:t>
            </a:r>
            <a:r>
              <a:rPr lang="en-US" sz="262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API (Open Movie Database)</a:t>
            </a:r>
          </a:p>
          <a:p>
            <a:pPr algn="l">
              <a:lnSpc>
                <a:spcPts val="3670"/>
              </a:lnSpc>
            </a:pPr>
            <a:endParaRPr lang="en-US" sz="262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670"/>
              </a:lnSpc>
              <a:spcBef>
                <a:spcPct val="0"/>
              </a:spcBef>
            </a:pPr>
            <a:endParaRPr lang="en-US" sz="262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943200"/>
            <a:ext cx="9137965" cy="4435073"/>
          </a:xfrm>
          <a:custGeom>
            <a:avLst/>
            <a:gdLst/>
            <a:ahLst/>
            <a:cxnLst/>
            <a:rect l="l" t="t" r="r" b="b"/>
            <a:pathLst>
              <a:path w="9137965" h="4435073">
                <a:moveTo>
                  <a:pt x="0" y="0"/>
                </a:moveTo>
                <a:lnTo>
                  <a:pt x="9137965" y="0"/>
                </a:lnTo>
                <a:lnTo>
                  <a:pt x="9137965" y="4435073"/>
                </a:lnTo>
                <a:lnTo>
                  <a:pt x="0" y="4435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046" t="-142489" r="-130613" b="-1695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137965" y="4157167"/>
            <a:ext cx="9150035" cy="6031661"/>
          </a:xfrm>
          <a:custGeom>
            <a:avLst/>
            <a:gdLst/>
            <a:ahLst/>
            <a:cxnLst/>
            <a:rect l="l" t="t" r="r" b="b"/>
            <a:pathLst>
              <a:path w="9150035" h="6031661">
                <a:moveTo>
                  <a:pt x="0" y="0"/>
                </a:moveTo>
                <a:lnTo>
                  <a:pt x="9150035" y="0"/>
                </a:lnTo>
                <a:lnTo>
                  <a:pt x="9150035" y="6031661"/>
                </a:lnTo>
                <a:lnTo>
                  <a:pt x="0" y="6031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619" t="-128108" r="-144859" b="-652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966464" y="1762705"/>
            <a:ext cx="7217503" cy="182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0753" lvl="1" indent="-280376" algn="l">
              <a:lnSpc>
                <a:spcPts val="3636"/>
              </a:lnSpc>
              <a:buFont typeface="Arial"/>
              <a:buChar char="•"/>
            </a:pPr>
            <a:r>
              <a:rPr lang="en-US" sz="25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 first tested the API using one movie, Interstellar, to understand how the JSON response was structured before collecting all 100 movies.”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7400" y="420520"/>
            <a:ext cx="10060478" cy="187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424" lvl="1" indent="-298712" algn="l">
              <a:lnSpc>
                <a:spcPts val="3873"/>
              </a:lnSpc>
              <a:buFont typeface="Arial"/>
              <a:buChar char="•"/>
            </a:pPr>
            <a:r>
              <a:rPr lang="en-US" sz="27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 sent a request for each movie title</a:t>
            </a:r>
          </a:p>
          <a:p>
            <a:pPr marL="597424" lvl="1" indent="-298712" algn="l">
              <a:lnSpc>
                <a:spcPts val="3873"/>
              </a:lnSpc>
              <a:buFont typeface="Arial"/>
              <a:buChar char="•"/>
            </a:pPr>
            <a:r>
              <a:rPr lang="en-US" sz="27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was returned in JSON format</a:t>
            </a:r>
          </a:p>
          <a:p>
            <a:pPr algn="l">
              <a:lnSpc>
                <a:spcPts val="3873"/>
              </a:lnSpc>
            </a:pPr>
            <a:endParaRPr lang="en-US" sz="276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453"/>
              </a:lnSpc>
              <a:spcBef>
                <a:spcPct val="0"/>
              </a:spcBef>
            </a:pPr>
            <a:endParaRPr lang="en-US" sz="276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28932" y="7323818"/>
            <a:ext cx="8437533" cy="1615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4398" lvl="1" indent="-232199" algn="l">
              <a:lnSpc>
                <a:spcPts val="3011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Created a list of 100 movie titles</a:t>
            </a:r>
          </a:p>
          <a:p>
            <a:pPr marL="464398" lvl="1" indent="-232199" algn="l">
              <a:lnSpc>
                <a:spcPts val="3011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Generated API requests using Python loops and the OMDb API</a:t>
            </a:r>
          </a:p>
          <a:p>
            <a:pPr algn="l">
              <a:lnSpc>
                <a:spcPts val="3944"/>
              </a:lnSpc>
              <a:spcBef>
                <a:spcPct val="0"/>
              </a:spcBef>
            </a:pPr>
            <a:endParaRPr lang="en-US" sz="215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237167"/>
            <a:ext cx="11544486" cy="7338939"/>
          </a:xfrm>
          <a:custGeom>
            <a:avLst/>
            <a:gdLst/>
            <a:ahLst/>
            <a:cxnLst/>
            <a:rect l="l" t="t" r="r" b="b"/>
            <a:pathLst>
              <a:path w="11544486" h="7338939">
                <a:moveTo>
                  <a:pt x="0" y="0"/>
                </a:moveTo>
                <a:lnTo>
                  <a:pt x="11544486" y="0"/>
                </a:lnTo>
                <a:lnTo>
                  <a:pt x="11544486" y="7338939"/>
                </a:lnTo>
                <a:lnTo>
                  <a:pt x="0" y="7338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990" t="-36037" r="-20431" b="-85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178516" y="1237167"/>
            <a:ext cx="5518010" cy="7625548"/>
          </a:xfrm>
          <a:custGeom>
            <a:avLst/>
            <a:gdLst/>
            <a:ahLst/>
            <a:cxnLst/>
            <a:rect l="l" t="t" r="r" b="b"/>
            <a:pathLst>
              <a:path w="5518010" h="7625548">
                <a:moveTo>
                  <a:pt x="0" y="0"/>
                </a:moveTo>
                <a:lnTo>
                  <a:pt x="5518010" y="0"/>
                </a:lnTo>
                <a:lnTo>
                  <a:pt x="5518010" y="7625548"/>
                </a:lnTo>
                <a:lnTo>
                  <a:pt x="0" y="7625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7507" t="-34452" r="-27348" b="-89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305891" y="244003"/>
            <a:ext cx="9676217" cy="813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50"/>
              </a:lnSpc>
              <a:spcBef>
                <a:spcPct val="0"/>
              </a:spcBef>
            </a:pPr>
            <a:r>
              <a:rPr lang="en-US" sz="482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Collected Movie Dataset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3960" y="9258300"/>
            <a:ext cx="16360080" cy="442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70"/>
              </a:lnSpc>
              <a:spcBef>
                <a:spcPct val="0"/>
              </a:spcBef>
            </a:pPr>
            <a:r>
              <a:rPr lang="en-US" sz="262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final dataset included movie information such as ratings, runtime, genre, awards, and release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42" y="964936"/>
            <a:ext cx="8179309" cy="9312038"/>
          </a:xfrm>
          <a:custGeom>
            <a:avLst/>
            <a:gdLst/>
            <a:ahLst/>
            <a:cxnLst/>
            <a:rect l="l" t="t" r="r" b="b"/>
            <a:pathLst>
              <a:path w="8179309" h="9312038">
                <a:moveTo>
                  <a:pt x="0" y="0"/>
                </a:moveTo>
                <a:lnTo>
                  <a:pt x="8179309" y="0"/>
                </a:lnTo>
                <a:lnTo>
                  <a:pt x="8179309" y="9312038"/>
                </a:lnTo>
                <a:lnTo>
                  <a:pt x="0" y="9312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988" t="-47445" r="-132540" b="-1194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9144000" y="5143500"/>
            <a:ext cx="8451105" cy="4970584"/>
          </a:xfrm>
          <a:custGeom>
            <a:avLst/>
            <a:gdLst/>
            <a:ahLst/>
            <a:cxnLst/>
            <a:rect l="l" t="t" r="r" b="b"/>
            <a:pathLst>
              <a:path w="8451105" h="4970584">
                <a:moveTo>
                  <a:pt x="0" y="0"/>
                </a:moveTo>
                <a:lnTo>
                  <a:pt x="8451105" y="0"/>
                </a:lnTo>
                <a:lnTo>
                  <a:pt x="8451105" y="4970584"/>
                </a:lnTo>
                <a:lnTo>
                  <a:pt x="0" y="4970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564" t="-141628" r="-126451" b="-611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942346" y="-7111"/>
            <a:ext cx="10758785" cy="1035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3"/>
              </a:lnSpc>
              <a:spcBef>
                <a:spcPct val="0"/>
              </a:spcBef>
            </a:pPr>
            <a:r>
              <a:rPr lang="en-US" sz="60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Cleaning &amp; Variable Creation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10092" y="1233636"/>
            <a:ext cx="10233081" cy="467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885" lvl="1" indent="-280942" algn="just">
              <a:lnSpc>
                <a:spcPts val="3643"/>
              </a:lnSpc>
              <a:buFont typeface="Arial"/>
              <a:buChar char="•"/>
            </a:pPr>
            <a:r>
              <a:rPr lang="en-US" sz="26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Converted IMDb ratings and runtime into numeric values</a:t>
            </a:r>
          </a:p>
          <a:p>
            <a:pPr marL="561885" lvl="1" indent="-280942" algn="just">
              <a:lnSpc>
                <a:spcPts val="3643"/>
              </a:lnSpc>
              <a:buFont typeface="Arial"/>
              <a:buChar char="•"/>
            </a:pPr>
            <a:r>
              <a:rPr lang="en-US" sz="26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Removed “min” from runtime using string cleaning</a:t>
            </a:r>
          </a:p>
          <a:p>
            <a:pPr marL="561885" lvl="1" indent="-280942" algn="just">
              <a:lnSpc>
                <a:spcPts val="3643"/>
              </a:lnSpc>
              <a:buFont typeface="Arial"/>
              <a:buChar char="•"/>
            </a:pPr>
            <a:r>
              <a:rPr lang="en-US" sz="26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Created Awards_Count by extracting numbers from awards text</a:t>
            </a:r>
          </a:p>
          <a:p>
            <a:pPr marL="561885" lvl="1" indent="-280942" algn="just">
              <a:lnSpc>
                <a:spcPts val="3643"/>
              </a:lnSpc>
              <a:buFont typeface="Arial"/>
              <a:buChar char="•"/>
            </a:pPr>
            <a:r>
              <a:rPr lang="en-US" sz="26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Created Genre_Count to measure genre complexity</a:t>
            </a:r>
          </a:p>
          <a:p>
            <a:pPr marL="561885" lvl="1" indent="-280942" algn="just">
              <a:lnSpc>
                <a:spcPts val="3643"/>
              </a:lnSpc>
              <a:buFont typeface="Arial"/>
              <a:buChar char="•"/>
            </a:pPr>
            <a:r>
              <a:rPr lang="en-US" sz="26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New variables were later used in graphs and regression models</a:t>
            </a:r>
          </a:p>
          <a:p>
            <a:pPr marL="561885" lvl="1" indent="-280942" algn="just">
              <a:lnSpc>
                <a:spcPts val="3643"/>
              </a:lnSpc>
              <a:buFont typeface="Arial"/>
              <a:buChar char="•"/>
            </a:pPr>
            <a:r>
              <a:rPr lang="en-US" sz="26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Cleaned the dataset so it could be analyzed in Python and R</a:t>
            </a:r>
          </a:p>
          <a:p>
            <a:pPr algn="just">
              <a:lnSpc>
                <a:spcPts val="4081"/>
              </a:lnSpc>
            </a:pPr>
            <a:endParaRPr lang="en-US" sz="2602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081"/>
              </a:lnSpc>
              <a:spcBef>
                <a:spcPct val="0"/>
              </a:spcBef>
            </a:pPr>
            <a:endParaRPr lang="en-US" sz="2602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222" y="1753870"/>
            <a:ext cx="18346445" cy="5680014"/>
          </a:xfrm>
          <a:custGeom>
            <a:avLst/>
            <a:gdLst/>
            <a:ahLst/>
            <a:cxnLst/>
            <a:rect l="l" t="t" r="r" b="b"/>
            <a:pathLst>
              <a:path w="18346445" h="5680014">
                <a:moveTo>
                  <a:pt x="0" y="0"/>
                </a:moveTo>
                <a:lnTo>
                  <a:pt x="18346444" y="0"/>
                </a:lnTo>
                <a:lnTo>
                  <a:pt x="18346444" y="5680014"/>
                </a:lnTo>
                <a:lnTo>
                  <a:pt x="0" y="5680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34" t="-143200" r="-11965" b="-351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049457" y="990600"/>
            <a:ext cx="13063538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IScatterplots were used to explore relationships between IMDb ratings and movie characteristics.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-547" y="-184387"/>
            <a:ext cx="17976949" cy="1035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3"/>
              </a:lnSpc>
              <a:spcBef>
                <a:spcPct val="0"/>
              </a:spcBef>
            </a:pPr>
            <a:r>
              <a:rPr lang="en-US" sz="60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Graphs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8668" y="7458081"/>
            <a:ext cx="7426955" cy="2867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endParaRPr/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graph compares the number of genres each movie has with its IMDb rating. Movies with more genres did not always receive higher ratings, showing only a weak relationship.</a:t>
            </a:r>
          </a:p>
          <a:p>
            <a:pPr algn="ctr">
              <a:lnSpc>
                <a:spcPts val="7268"/>
              </a:lnSpc>
              <a:spcBef>
                <a:spcPct val="0"/>
              </a:spcBef>
            </a:pPr>
            <a:endParaRPr lang="en-US" sz="23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339165" y="7467606"/>
            <a:ext cx="7637237" cy="2523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99"/>
              </a:lnSpc>
            </a:pPr>
            <a:endParaRPr/>
          </a:p>
          <a:p>
            <a:pPr algn="just">
              <a:lnSpc>
                <a:spcPts val="3399"/>
              </a:lnSpc>
            </a:pPr>
            <a:r>
              <a:rPr lang="en-US" sz="24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graph shows the relationship between awards count and IMDb ratings. Movies with more awards generally tended to have slightly higher ratings, although the relationship was not very strong.</a:t>
            </a:r>
          </a:p>
          <a:p>
            <a:pPr algn="ctr">
              <a:lnSpc>
                <a:spcPts val="3090"/>
              </a:lnSpc>
              <a:spcBef>
                <a:spcPct val="0"/>
              </a:spcBef>
            </a:pPr>
            <a:endParaRPr lang="en-US" sz="242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2400" y="1076826"/>
            <a:ext cx="10275397" cy="7239519"/>
          </a:xfrm>
          <a:custGeom>
            <a:avLst/>
            <a:gdLst/>
            <a:ahLst/>
            <a:cxnLst/>
            <a:rect l="l" t="t" r="r" b="b"/>
            <a:pathLst>
              <a:path w="10782870" h="7460669">
                <a:moveTo>
                  <a:pt x="0" y="0"/>
                </a:moveTo>
                <a:lnTo>
                  <a:pt x="10782870" y="0"/>
                </a:lnTo>
                <a:lnTo>
                  <a:pt x="10782870" y="7460669"/>
                </a:lnTo>
                <a:lnTo>
                  <a:pt x="0" y="74606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499" t="-73752" r="-61529" b="-3764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0" y="2871089"/>
            <a:ext cx="8048559" cy="3775890"/>
          </a:xfrm>
          <a:custGeom>
            <a:avLst/>
            <a:gdLst/>
            <a:ahLst/>
            <a:cxnLst/>
            <a:rect l="l" t="t" r="r" b="b"/>
            <a:pathLst>
              <a:path w="8048559" h="3775890">
                <a:moveTo>
                  <a:pt x="0" y="0"/>
                </a:moveTo>
                <a:lnTo>
                  <a:pt x="8048559" y="0"/>
                </a:lnTo>
                <a:lnTo>
                  <a:pt x="8048559" y="3775891"/>
                </a:lnTo>
                <a:lnTo>
                  <a:pt x="0" y="3775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882" t="-135774" r="-88571" b="-779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685383" y="2414"/>
            <a:ext cx="9369485" cy="176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7"/>
              </a:lnSpc>
            </a:pPr>
            <a:r>
              <a:rPr lang="en-US" sz="50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Distribution of IMDb Ratings</a:t>
            </a:r>
          </a:p>
          <a:p>
            <a:pPr algn="ctr">
              <a:lnSpc>
                <a:spcPts val="7107"/>
              </a:lnSpc>
              <a:spcBef>
                <a:spcPct val="0"/>
              </a:spcBef>
            </a:pPr>
            <a:endParaRPr lang="en-US" sz="507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62971" y="8306319"/>
            <a:ext cx="15998498" cy="1980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0184" lvl="1" indent="-245092" algn="just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 IMDb ratings were concentrated between 7.5 and 8.5, shown by the peak in the center of the curve.</a:t>
            </a:r>
          </a:p>
          <a:p>
            <a:pPr marL="490184" lvl="1" indent="-245092" algn="just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distribution suggests that the dataset mainly included well-rated and critically recognized films.</a:t>
            </a:r>
          </a:p>
          <a:p>
            <a:pPr marL="490184" lvl="1" indent="-245092" algn="just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Very low IMDb ratings were uncommon, while extremely high ratings were also rare.</a:t>
            </a:r>
          </a:p>
          <a:p>
            <a:pPr marL="490184" lvl="1" indent="-245092" algn="just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density curve helped visualize where ratings were most heavily concentrated across the dataset.</a:t>
            </a:r>
          </a:p>
          <a:p>
            <a:pPr algn="just">
              <a:lnSpc>
                <a:spcPts val="3178"/>
              </a:lnSpc>
            </a:pPr>
            <a:endParaRPr lang="en-US" sz="227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472" y="2027315"/>
            <a:ext cx="8779347" cy="6327724"/>
          </a:xfrm>
          <a:custGeom>
            <a:avLst/>
            <a:gdLst/>
            <a:ahLst/>
            <a:cxnLst/>
            <a:rect l="l" t="t" r="r" b="b"/>
            <a:pathLst>
              <a:path w="8779347" h="6327724">
                <a:moveTo>
                  <a:pt x="0" y="0"/>
                </a:moveTo>
                <a:lnTo>
                  <a:pt x="8779347" y="0"/>
                </a:lnTo>
                <a:lnTo>
                  <a:pt x="8779347" y="6327724"/>
                </a:lnTo>
                <a:lnTo>
                  <a:pt x="0" y="632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393" t="-179512" r="-213830" b="-28215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4698516" y="22229"/>
            <a:ext cx="9453116" cy="1019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33"/>
              </a:lnSpc>
              <a:spcBef>
                <a:spcPct val="0"/>
              </a:spcBef>
            </a:pPr>
            <a:r>
              <a:rPr lang="en-US" sz="609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Regression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06350" y="1069049"/>
            <a:ext cx="9037448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Model: 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IMDb Rating ~ Runtime + Awards_Count + Genre_Count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980897" y="1124054"/>
            <a:ext cx="9307103" cy="813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0"/>
              </a:lnSpc>
              <a:spcBef>
                <a:spcPct val="0"/>
              </a:spcBef>
            </a:pPr>
            <a:endParaRPr dirty="0"/>
          </a:p>
          <a:p>
            <a:pPr algn="l">
              <a:lnSpc>
                <a:spcPts val="9182"/>
              </a:lnSpc>
              <a:spcBef>
                <a:spcPct val="0"/>
              </a:spcBef>
            </a:pPr>
            <a:endParaRPr dirty="0"/>
          </a:p>
          <a:p>
            <a:pPr algn="l">
              <a:lnSpc>
                <a:spcPts val="3195"/>
              </a:lnSpc>
              <a:spcBef>
                <a:spcPct val="0"/>
              </a:spcBef>
            </a:pPr>
            <a:r>
              <a:rPr lang="en-US" sz="2282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Regression Summary</a:t>
            </a:r>
          </a:p>
          <a:p>
            <a:pPr marL="487992" lvl="1" indent="-243996" algn="l">
              <a:lnSpc>
                <a:spcPts val="3164"/>
              </a:lnSpc>
              <a:spcBef>
                <a:spcPct val="0"/>
              </a:spcBef>
              <a:buFont typeface="Arial"/>
              <a:buChar char="•"/>
            </a:pPr>
            <a:r>
              <a:rPr lang="en-US" sz="226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Runtime had the strongest positive relationship with IMDb ratings.</a:t>
            </a:r>
          </a:p>
          <a:p>
            <a:pPr marL="487992" lvl="1" indent="-243996" algn="l">
              <a:lnSpc>
                <a:spcPts val="3164"/>
              </a:lnSpc>
              <a:spcBef>
                <a:spcPct val="0"/>
              </a:spcBef>
              <a:buFont typeface="Arial"/>
              <a:buChar char="•"/>
            </a:pPr>
            <a:r>
              <a:rPr lang="en-US" sz="226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coefficient was positive (0.0046), suggesting that longer movies tended to receive slightly higher ratings.</a:t>
            </a:r>
          </a:p>
          <a:p>
            <a:pPr marL="487992" lvl="1" indent="-243996" algn="l">
              <a:lnSpc>
                <a:spcPts val="3164"/>
              </a:lnSpc>
              <a:spcBef>
                <a:spcPct val="0"/>
              </a:spcBef>
              <a:buFont typeface="Arial"/>
              <a:buChar char="•"/>
            </a:pPr>
            <a:r>
              <a:rPr lang="en-US" sz="226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Awards_Count showed a small negative relationship with IMDb ratings.</a:t>
            </a:r>
          </a:p>
          <a:p>
            <a:pPr marL="487992" lvl="1" indent="-243996" algn="l">
              <a:lnSpc>
                <a:spcPts val="3164"/>
              </a:lnSpc>
              <a:spcBef>
                <a:spcPct val="0"/>
              </a:spcBef>
              <a:buFont typeface="Arial"/>
              <a:buChar char="•"/>
            </a:pPr>
            <a:r>
              <a:rPr lang="en-US" sz="226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Its coefficient was close to zero (-0.0006), meaning awards did not strongly predict ratings in this dataset.</a:t>
            </a:r>
          </a:p>
          <a:p>
            <a:pPr marL="487992" lvl="1" indent="-243996" algn="l">
              <a:lnSpc>
                <a:spcPts val="3164"/>
              </a:lnSpc>
              <a:spcBef>
                <a:spcPct val="0"/>
              </a:spcBef>
              <a:buFont typeface="Arial"/>
              <a:buChar char="•"/>
            </a:pPr>
            <a:r>
              <a:rPr lang="en-US" sz="226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Genre_Count</a:t>
            </a:r>
            <a:r>
              <a:rPr lang="en-US" sz="226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showed almost no relationship with IMDb ratings.</a:t>
            </a:r>
          </a:p>
          <a:p>
            <a:pPr marL="487992" lvl="1" indent="-243996" algn="l">
              <a:lnSpc>
                <a:spcPts val="3164"/>
              </a:lnSpc>
              <a:spcBef>
                <a:spcPct val="0"/>
              </a:spcBef>
              <a:buFont typeface="Arial"/>
              <a:buChar char="•"/>
            </a:pPr>
            <a:r>
              <a:rPr lang="en-US" sz="226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coefficient (0.0017) was very small, suggesting the number of genres a movie had did not meaningfully affect ratings.</a:t>
            </a:r>
          </a:p>
          <a:p>
            <a:pPr algn="l">
              <a:lnSpc>
                <a:spcPts val="8910"/>
              </a:lnSpc>
              <a:spcBef>
                <a:spcPct val="0"/>
              </a:spcBef>
            </a:pPr>
            <a:endParaRPr lang="en-US" sz="226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64948" y="1502603"/>
            <a:ext cx="8255384" cy="8255384"/>
          </a:xfrm>
          <a:custGeom>
            <a:avLst/>
            <a:gdLst/>
            <a:ahLst/>
            <a:cxnLst/>
            <a:rect l="l" t="t" r="r" b="b"/>
            <a:pathLst>
              <a:path w="8255384" h="8255384">
                <a:moveTo>
                  <a:pt x="0" y="0"/>
                </a:moveTo>
                <a:lnTo>
                  <a:pt x="8255384" y="0"/>
                </a:lnTo>
                <a:lnTo>
                  <a:pt x="8255384" y="8255383"/>
                </a:lnTo>
                <a:lnTo>
                  <a:pt x="0" y="8255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0" y="2742469"/>
            <a:ext cx="10388885" cy="4678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8"/>
              </a:lnSpc>
            </a:pPr>
            <a:r>
              <a:rPr lang="en-US" sz="6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Conclusion</a:t>
            </a:r>
          </a:p>
          <a:p>
            <a:pPr algn="ctr">
              <a:lnSpc>
                <a:spcPts val="3919"/>
              </a:lnSpc>
            </a:pPr>
            <a:endParaRPr lang="en-US" sz="683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Runtime showed the strongest relationship with IMDb ratings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Awards count and genre count had weaker effects on ratings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 ratings were concentrated between 8.0 and 8.5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525</Words>
  <Application>Microsoft Macintosh PowerPoint</Application>
  <PresentationFormat>Custom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Canva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IMDb Movies Analysis Karolina Szczepanik ECO 590</dc:title>
  <cp:lastModifiedBy>Szczepanik, Karolina</cp:lastModifiedBy>
  <cp:revision>2</cp:revision>
  <dcterms:created xsi:type="dcterms:W3CDTF">2006-08-16T00:00:00Z</dcterms:created>
  <dcterms:modified xsi:type="dcterms:W3CDTF">2026-05-13T00:28:01Z</dcterms:modified>
  <dc:identifier>DAHJfQ4EIyw</dc:identifier>
</cp:coreProperties>
</file>